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61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mitlamsal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F4A"/>
          </a:solidFill>
          <a:ln w="12700">
            <a:solidFill>
              <a:srgbClr val="16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4864" cy="1645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OPERATIONS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Analytics Project — Banking &amp; Finance Domain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Credit Card Operations  |  Jan–Dec 2024  |  5,000 Applications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Lamsal</a:t>
            </a:r>
            <a:r>
              <a:rPr lang="en-US" sz="1100" dirty="0">
                <a:solidFill>
                  <a:srgbClr val="7BA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MS Business Analytics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 |  Python  |  SQL  |  Excel  |  Power Query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078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Background &amp; Problem Statement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38988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 was needed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11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0116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0848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Approach &amp; Methodology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957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built it — full BA lifecycle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11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017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0906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 Quality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4015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records — synthetic banking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411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02336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096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Overview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40740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3-page Power BI dashboard walkthrough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00584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10058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1078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138988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findings across 4 categories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01168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2011680"/>
            <a:ext cx="411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0116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57800" y="20848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3957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actionable recommendations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017520"/>
            <a:ext cx="411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017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57800" y="30906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34015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KPI improvements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402336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4023360"/>
            <a:ext cx="411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402336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57800" y="4096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440740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list of 16 deliverables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Background &amp; 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81912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U.S. bank processes credit card applications daily through two pathways — automated STP and manual review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visibility into application processing performance, queue status, or SLA compliance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team managing workload reactively — SLA breaches discovered after the fact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data-driven basis for improving underwriting rules to increase automation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and operations KPIs tracked in separate systems with no integrated 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4297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371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581912"/>
            <a:ext cx="4114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the bank gain real-time visibility into its credit card application processing performance?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operations managers proactively prevent SLA breaches before they occur?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exception types are creating the most operational burden and why?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risk profile of the incoming applicant pool look like?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the bank use data to improve its STP rate from the current 46.7%?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13258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3840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" y="4206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analyzed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3794760"/>
            <a:ext cx="13258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3840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4206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 defined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3794760"/>
            <a:ext cx="13258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3840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0" y="4206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columns tracked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794760"/>
            <a:ext cx="13258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3840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663440" y="4206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monitored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94760"/>
            <a:ext cx="13258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3840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26480" y="4206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features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89520" y="3794760"/>
            <a:ext cx="13258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89520" y="3840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589520" y="4206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test cases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Approach &amp; 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BA project lifecycle — 7 phases, 16 deliverables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4300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1143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BRD, User Stories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17320" y="1463040"/>
            <a:ext cx="100584" cy="22860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17904" y="1005840"/>
            <a:ext cx="114300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17904" y="10058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17904" y="1325880"/>
            <a:ext cx="1143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17904" y="1371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17904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&amp; To-Be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60904" y="1463040"/>
            <a:ext cx="100584" cy="22860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61488" y="1005840"/>
            <a:ext cx="1143000" cy="320040"/>
          </a:xfrm>
          <a:prstGeom prst="rect">
            <a:avLst/>
          </a:prstGeom>
          <a:solidFill>
            <a:srgbClr val="1D6FA8"/>
          </a:solidFill>
          <a:ln w="12700">
            <a:solidFill>
              <a:srgbClr val="1D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61488" y="10058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61488" y="1325880"/>
            <a:ext cx="1143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61488" y="1371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EDA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04488" y="1463040"/>
            <a:ext cx="100584" cy="22860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005072" y="1005840"/>
            <a:ext cx="1143000" cy="320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05072" y="10058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05072" y="1325880"/>
            <a:ext cx="1143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05072" y="1371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05072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48072" y="1463040"/>
            <a:ext cx="100584" cy="22860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48656" y="1005840"/>
            <a:ext cx="1143000" cy="3200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48656" y="10058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48656" y="1325880"/>
            <a:ext cx="1143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48656" y="1371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48656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Checklist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91656" y="1463040"/>
            <a:ext cx="100584" cy="22860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92240" y="1005840"/>
            <a:ext cx="1143000" cy="3200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92240" y="10058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92240" y="1325880"/>
            <a:ext cx="1143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92240" y="1371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35240" y="1463040"/>
            <a:ext cx="100584" cy="22860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735824" y="1005840"/>
            <a:ext cx="114300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35824" y="10058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35824" y="1325880"/>
            <a:ext cx="1143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35824" y="1371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35824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Summary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28346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315468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3200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" y="34747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build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737360" y="315468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737360" y="3200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737360" y="34747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generation &amp; cleaning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00400" y="315468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0" y="3200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00400" y="34747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scripts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663440" y="315468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63440" y="3200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63440" y="34747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26480" y="315468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126480" y="3200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126480" y="34747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&amp; data dictionary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589520" y="315468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589520" y="3200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589520" y="34747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 Quality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synthetic records — all DQ checks passed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18288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1709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0280" y="132588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40280" y="1325880"/>
            <a:ext cx="18288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402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1828800" cy="365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Jan–Dec 2024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" y="2487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210312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40280" y="2103120"/>
            <a:ext cx="18288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402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passed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240280" y="2487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checks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1005840"/>
            <a:ext cx="466344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0" y="10058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Checks — All 10 Passed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132588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1371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DQ-01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97680" y="1527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and Manual flags mutually exclusive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06240" y="187452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06240" y="1920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DQ-02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97680" y="2075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 cases have exception reason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06240" y="242316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06240" y="24688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DQ-03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97680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Non-manual cases have no exception reason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06240" y="297180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06240" y="30175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97680" y="3172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only on approved accounts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06240" y="352044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06240" y="3566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97680" y="3721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cases have no review notes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92240" y="132588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92240" y="1371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DQ-06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83680" y="1527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 is positive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187452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92240" y="1920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DQ-07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83680" y="2075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 within 300–850 range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92240" y="242316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92240" y="24688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DQ-08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83680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income is positive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92240" y="297180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92240" y="30175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DQ-09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583680" y="3172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breach logic is consistent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92240" y="3520440"/>
            <a:ext cx="2194560" cy="45720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92240" y="3566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DQ-10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83680" y="3721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Application IDs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Performance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8 KPIs from the BRD — 2024 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914400"/>
          </a:xfrm>
          <a:prstGeom prst="rect">
            <a:avLst/>
          </a:prstGeom>
          <a:solidFill>
            <a:srgbClr val="F8FBFE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01168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Applications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year 2024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2011680" cy="914400"/>
          </a:xfrm>
          <a:prstGeom prst="rect">
            <a:avLst/>
          </a:prstGeom>
          <a:solidFill>
            <a:srgbClr val="F0FBF6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1005840"/>
            <a:ext cx="201168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42032" y="1051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42032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42032" y="1536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45–65% 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26864" y="1005840"/>
            <a:ext cx="2011680" cy="914400"/>
          </a:xfrm>
          <a:prstGeom prst="rect">
            <a:avLst/>
          </a:prstGeom>
          <a:solidFill>
            <a:srgbClr val="FE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1005840"/>
            <a:ext cx="2011680" cy="3657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18304" y="1051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Rate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18304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18304" y="1536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≥80% ✗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03136" y="1005840"/>
            <a:ext cx="2011680" cy="914400"/>
          </a:xfrm>
          <a:prstGeom prst="rect">
            <a:avLst/>
          </a:prstGeom>
          <a:solidFill>
            <a:srgbClr val="FE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03136" y="1005840"/>
            <a:ext cx="2011680" cy="3657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94576" y="1051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 Rate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94576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53.3%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94576" y="1536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&lt;20% ✗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103120"/>
            <a:ext cx="2011680" cy="914400"/>
          </a:xfrm>
          <a:prstGeom prst="rect">
            <a:avLst/>
          </a:prstGeom>
          <a:solidFill>
            <a:srgbClr val="FFFB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2011680" cy="3657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2148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Breach 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65760" y="2633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&lt;5% ⚠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50592" y="2103120"/>
            <a:ext cx="2011680" cy="914400"/>
          </a:xfrm>
          <a:prstGeom prst="rect">
            <a:avLst/>
          </a:prstGeom>
          <a:solidFill>
            <a:srgbClr val="F0FBF6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450592" y="2103120"/>
            <a:ext cx="201168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42032" y="2148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42032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542032" y="2633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3–5% 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26864" y="2103120"/>
            <a:ext cx="2011680" cy="914400"/>
          </a:xfrm>
          <a:prstGeom prst="rect">
            <a:avLst/>
          </a:prstGeom>
          <a:solidFill>
            <a:srgbClr val="F8FBFE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26864" y="2103120"/>
            <a:ext cx="201168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18304" y="2148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Credit Score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18304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668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718304" y="2633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band 650–719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03136" y="2103120"/>
            <a:ext cx="2011680" cy="914400"/>
          </a:xfrm>
          <a:prstGeom prst="rect">
            <a:avLst/>
          </a:prstGeom>
          <a:solidFill>
            <a:srgbClr val="F8F5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03136" y="2103120"/>
            <a:ext cx="2011680" cy="3657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94576" y="2148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Processing Time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94576" y="2304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 min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894576" y="2633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STP: 16 | Man: 1,659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" y="32918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= On Target  |  Amber = Warning Zone  |  Red = Below Target  |  Blue = Informational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566160"/>
            <a:ext cx="8595360" cy="457200"/>
          </a:xfrm>
          <a:prstGeom prst="rect">
            <a:avLst/>
          </a:prstGeom>
          <a:solidFill>
            <a:srgbClr val="FEF5F5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Critical: STP Rate (46.7%) and Manual Review Rate (53.3%) are the two KPIs most urgently requiring action — they are the root cause of all operational efficiency challenges.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3-page Power BI dashboard — 6 features, 12 user stories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8892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— Executive Overview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2788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6: Executive KPI Dashboard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8 KPI tiles with RAG color coding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application volume chart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vs Manual review trend line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status donut chart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rate by product type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breach rate by product type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4434840"/>
            <a:ext cx="2788920" cy="320040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462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VP of Operations, Executive Leadership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889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005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— Operations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2788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325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2, 3 and 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vs Manual by channel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reason breakdown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aging bucket cards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table with priority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breach trend line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 STP vs manual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4434840"/>
            <a:ext cx="2788920" cy="320040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4462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Operations Manager, Process Analysts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78892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005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— Risk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788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1325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4: Customer Risk Segmentation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160020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 band distribution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rate by score band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DTI band distribution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vs standard donut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breach by score band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4434840"/>
            <a:ext cx="2788920" cy="3200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44622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Credit Risk Manager, Credit Analysts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Mapping — As-Is vs To-Be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applications flow through the system today vs future state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— Current State (Problems)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023360" cy="411480"/>
          </a:xfrm>
          <a:prstGeom prst="rect">
            <a:avLst/>
          </a:prstGeom>
          <a:solidFill>
            <a:srgbClr val="FEF5F5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 real-time queue visibility — operations team blind to queue status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4023360" cy="411480"/>
          </a:xfrm>
          <a:prstGeom prst="rect">
            <a:avLst/>
          </a:prstGeom>
          <a:solidFill>
            <a:srgbClr val="FEF5F5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SLA breaches discovered after the fact — no proactive alerting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023360" cy="411480"/>
          </a:xfrm>
          <a:prstGeom prst="rect">
            <a:avLst/>
          </a:prstGeom>
          <a:solidFill>
            <a:srgbClr val="FEF5F5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FIFO queue management — oldest cases not prioritized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023360" cy="411480"/>
          </a:xfrm>
          <a:prstGeom prst="rect">
            <a:avLst/>
          </a:prstGeom>
          <a:solidFill>
            <a:srgbClr val="FEF5F5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53.3% of applications routed to manual review (target is &lt;20%)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4023360" cy="411480"/>
          </a:xfrm>
          <a:prstGeom prst="rect">
            <a:avLst/>
          </a:prstGeom>
          <a:solidFill>
            <a:srgbClr val="FEF5F5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 dashboard — performance tracked via offline reports with lag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4023360" cy="411480"/>
          </a:xfrm>
          <a:prstGeom prst="rect">
            <a:avLst/>
          </a:prstGeom>
          <a:solidFill>
            <a:srgbClr val="FEF5F5"/>
          </a:solidFill>
          <a:ln w="635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Underwriters have no context about case priority or SLA risk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— Future State (Solutions)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325880"/>
            <a:ext cx="4297680" cy="411480"/>
          </a:xfrm>
          <a:prstGeom prst="rect">
            <a:avLst/>
          </a:prstGeom>
          <a:solidFill>
            <a:srgbClr val="F0FBF6"/>
          </a:solidFill>
          <a:ln w="6350">
            <a:solidFill>
              <a:srgbClr val="A8D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dashboard — full queue visibility for operations managers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828800"/>
            <a:ext cx="4297680" cy="411480"/>
          </a:xfrm>
          <a:prstGeom prst="rect">
            <a:avLst/>
          </a:prstGeom>
          <a:solidFill>
            <a:srgbClr val="F0FBF6"/>
          </a:solidFill>
          <a:ln w="6350">
            <a:solidFill>
              <a:srgbClr val="A8D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Proactive SLA alerts — cases flagged before breach occurs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331720"/>
            <a:ext cx="4297680" cy="411480"/>
          </a:xfrm>
          <a:prstGeom prst="rect">
            <a:avLst/>
          </a:prstGeom>
          <a:solidFill>
            <a:srgbClr val="F0FBF6"/>
          </a:solidFill>
          <a:ln w="6350">
            <a:solidFill>
              <a:srgbClr val="A8D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Smart priority routing — Critical cases processed first automatically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2834640"/>
            <a:ext cx="4297680" cy="411480"/>
          </a:xfrm>
          <a:prstGeom prst="rect">
            <a:avLst/>
          </a:prstGeom>
          <a:solidFill>
            <a:srgbClr val="F0FBF6"/>
          </a:solidFill>
          <a:ln w="6350">
            <a:solidFill>
              <a:srgbClr val="A8D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Secondary auto-decisioning rules to increase STP rate to ≥80%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3337560"/>
            <a:ext cx="4297680" cy="411480"/>
          </a:xfrm>
          <a:prstGeom prst="rect">
            <a:avLst/>
          </a:prstGeom>
          <a:solidFill>
            <a:srgbClr val="F0FBF6"/>
          </a:solidFill>
          <a:ln w="6350">
            <a:solidFill>
              <a:srgbClr val="A8D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KPI monitoring — all 8 metrics updated in real 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840480"/>
            <a:ext cx="4297680" cy="411480"/>
          </a:xfrm>
          <a:prstGeom prst="rect">
            <a:avLst/>
          </a:prstGeom>
          <a:solidFill>
            <a:srgbClr val="F0FBF6"/>
          </a:solidFill>
          <a:ln w="6350">
            <a:solidFill>
              <a:srgbClr val="A8D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Underwriters receive rich context — risk score, SLA timer, priority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— 8 Findings Across 4 Categories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57200" cy="8686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789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rate 46.7% — critically below 80% target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572768"/>
            <a:ext cx="73152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5727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57200" cy="8686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0058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10789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 Credit Score drives most manual reviews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1572768"/>
            <a:ext cx="73152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0" y="15727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029968"/>
            <a:ext cx="457200" cy="8686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029968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2103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breach rate 6.5% — in amber warning zone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2596896"/>
            <a:ext cx="73152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2596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202996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029968"/>
            <a:ext cx="457200" cy="8686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029968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2103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 takes 55x longer than STP (1,659 vs 16 min)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2596896"/>
            <a:ext cx="73152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0" y="2596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05409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054096"/>
            <a:ext cx="457200" cy="8686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054096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1272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of pending queue is in the Critical aging bucket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3621024"/>
            <a:ext cx="73152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36210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305409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3054096"/>
            <a:ext cx="45720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3054096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31272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rate 4.3% — within 3–5% benchmark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12080" y="3621024"/>
            <a:ext cx="73152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12080" y="36210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07822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4078224"/>
            <a:ext cx="45720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078224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" y="41513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band drives highest volume AND most exceptions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4645152"/>
            <a:ext cx="73152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" y="46451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63440" y="4078224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63440" y="4078224"/>
            <a:ext cx="45720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63440" y="4078224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41513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channel is 60% of volume — room for STP gains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12080" y="4645152"/>
            <a:ext cx="73152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212080" y="46451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 Deep Dive — The STP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F-01 and F-02: Root cause of all operational challenges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FEF5F5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is processing only 46.7% of applications via STP — missing the 80% policy target by 33 percentage points. Every second application requires a human underwriter.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2,664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requiring manual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per year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60020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1,659 min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manual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16 min STP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60020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6864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26864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than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— every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1600200"/>
            <a:ext cx="2011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03136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03136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go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manual queue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859536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17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— Why is the STP Rate So Low?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201168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(650–720)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single driver. The 70-point manual review trigger band captures 30% of all applicants by design.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50592" y="333756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50592" y="3337560"/>
            <a:ext cx="2011680" cy="3657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50592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DTI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(&gt;43%)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42032" y="3931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largest driver. Many applicants have DTI slightly above threshold triggering unnecessary manual review.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26864" y="333756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26864" y="3337560"/>
            <a:ext cx="2011680" cy="3657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26864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18304" y="3931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exception — applicants submit incomplete applications which could be prevented with better form validation.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03136" y="333756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03136" y="3337560"/>
            <a:ext cx="2011680" cy="3657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03136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(&gt;$25K)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94576" y="3931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driver. Threshold may be too conservative for high-income applicants with strong credit profiles.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— 6 Actions to Transform Operations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57200" cy="5943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Credit Score Trigger Band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2984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manual review band from 650–720 to 670–710 to reduce unnecessary referrals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0" y="1143000"/>
            <a:ext cx="82296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months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115568"/>
            <a:ext cx="109728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1155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+8–13pp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9164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457200" cy="5943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16916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1737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Auto-Decisioning in Good Band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19842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Auto-approve Good band applicants with DTI&lt;30% and income&gt;$60K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0" y="1828800"/>
            <a:ext cx="82296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0" y="1828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801368"/>
            <a:ext cx="109728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1801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+15–20pp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37744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2377440"/>
            <a:ext cx="457200" cy="5943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377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SLA Alerting &amp; Queue Management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2670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dashboard as primary ops tool with escalation protocol for aging cases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0" y="2514600"/>
            <a:ext cx="822960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0" y="2514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2514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 month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2487168"/>
            <a:ext cx="109728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2487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-1.5pp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06324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3063240"/>
            <a:ext cx="457200" cy="5943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30632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" y="3108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Investment Programme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" y="33558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scoring, digital document verification and rules engine enhancements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3200400"/>
            <a:ext cx="822960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0" y="3200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0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months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3172968"/>
            <a:ext cx="109728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17920" y="3172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≥ 80%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74904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" y="3749040"/>
            <a:ext cx="4572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37490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" y="3794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Channel STP Optimization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" y="4041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Online data quality advantage for more permissive auto-decisioning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840480" y="3886200"/>
            <a:ext cx="82296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840480" y="3886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5488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3858768"/>
            <a:ext cx="109728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17920" y="38587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+15pp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74320" y="4434840"/>
            <a:ext cx="4572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4320" y="4434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22960" y="4480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 Performance Review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22960" y="47274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dashboard as single source of truth in monthly ops and risk review meeting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840480" y="4572000"/>
            <a:ext cx="82296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840480" y="4572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54880" y="4572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 month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17920" y="4544568"/>
            <a:ext cx="109728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17920" y="45445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— 12 Months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by priority and dependency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960120"/>
            <a:ext cx="100584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960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794760" y="960120"/>
            <a:ext cx="100584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94760" y="960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100584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960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97880" y="960120"/>
            <a:ext cx="100584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960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4–6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49440" y="960120"/>
            <a:ext cx="100584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960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7–9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01000" y="960120"/>
            <a:ext cx="100584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01000" y="960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10–12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32588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1435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R-03: SLA Alerting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88920" y="1399032"/>
            <a:ext cx="914400" cy="34747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88920" y="13990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1399032"/>
            <a:ext cx="914400" cy="34747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0" y="13990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139903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0" y="139903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95160" y="139903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46720" y="139903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192024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R-06: Monthly Reviews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88920" y="1993392"/>
            <a:ext cx="914400" cy="34747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8892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0" y="1993392"/>
            <a:ext cx="914400" cy="34747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1993392"/>
            <a:ext cx="914400" cy="34747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1993392"/>
            <a:ext cx="914400" cy="34747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95160" y="1993392"/>
            <a:ext cx="914400" cy="34747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9516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46720" y="1993392"/>
            <a:ext cx="914400" cy="34747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04672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251460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2624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R-01: Narrow Score Band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88920" y="2587752"/>
            <a:ext cx="914400" cy="347472"/>
          </a:xfrm>
          <a:prstGeom prst="rect">
            <a:avLst/>
          </a:prstGeom>
          <a:solidFill>
            <a:srgbClr val="E24B4A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88920" y="2587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40480" y="2587752"/>
            <a:ext cx="914400" cy="347472"/>
          </a:xfrm>
          <a:prstGeom prst="rect">
            <a:avLst/>
          </a:prstGeom>
          <a:solidFill>
            <a:srgbClr val="E24B4A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40480" y="2587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92040" y="2587752"/>
            <a:ext cx="914400" cy="347472"/>
          </a:xfrm>
          <a:prstGeom prst="rect">
            <a:avLst/>
          </a:prstGeom>
          <a:solidFill>
            <a:srgbClr val="E24B4A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92040" y="2587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43600" y="258775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995160" y="258775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046720" y="258775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74320" y="310896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3218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R-02: Secondary Auto-Decision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88920" y="318211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840480" y="318211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892040" y="3182112"/>
            <a:ext cx="914400" cy="347472"/>
          </a:xfrm>
          <a:prstGeom prst="rect">
            <a:avLst/>
          </a:prstGeom>
          <a:solidFill>
            <a:srgbClr val="E24B4A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92040" y="3182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943600" y="3182112"/>
            <a:ext cx="914400" cy="347472"/>
          </a:xfrm>
          <a:prstGeom prst="rect">
            <a:avLst/>
          </a:prstGeom>
          <a:solidFill>
            <a:srgbClr val="E24B4A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943600" y="3182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995160" y="3182112"/>
            <a:ext cx="914400" cy="347472"/>
          </a:xfrm>
          <a:prstGeom prst="rect">
            <a:avLst/>
          </a:prstGeom>
          <a:solidFill>
            <a:srgbClr val="E24B4A"/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995160" y="3182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046720" y="318211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74320" y="370332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65760" y="3813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R-05: Online STP Optimization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88920" y="377647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840480" y="377647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892040" y="3776472"/>
            <a:ext cx="914400" cy="34747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892040" y="37764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943600" y="3776472"/>
            <a:ext cx="914400" cy="34747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943600" y="37764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995160" y="3776472"/>
            <a:ext cx="914400" cy="347472"/>
          </a:xfrm>
          <a:prstGeom prst="rect">
            <a:avLst/>
          </a:prstGeom>
          <a:solidFill>
            <a:srgbClr val="2E75B6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995160" y="37764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046720" y="377647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74320" y="429768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65760" y="4407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R-04: Automation Programme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788920" y="437083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840480" y="437083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892040" y="4370832"/>
            <a:ext cx="9144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943600" y="4370832"/>
            <a:ext cx="914400" cy="34747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943600" y="4370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995160" y="4370832"/>
            <a:ext cx="914400" cy="34747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995160" y="4370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046720" y="4370832"/>
            <a:ext cx="914400" cy="347472"/>
          </a:xfrm>
          <a:prstGeom prst="rect">
            <a:avLst/>
          </a:prstGeom>
          <a:solidFill>
            <a:srgbClr val="EF9F27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8046720" y="4370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▓▓▓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— After 12-Month Implementation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KPI improvements based on recommendations R-01 to R-06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46.7%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4840" y="1207008"/>
            <a:ext cx="731520" cy="256032"/>
          </a:xfrm>
          <a:prstGeom prst="rightArrow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0" y="1143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80.0%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0" y="1170432"/>
            <a:ext cx="146304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0" y="1170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783080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53.3%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34840" y="1984248"/>
            <a:ext cx="731520" cy="256032"/>
          </a:xfrm>
          <a:prstGeom prst="rightArrow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20.0%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0" y="1947672"/>
            <a:ext cx="146304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0" y="1947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-33pp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Processing Time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 min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4840" y="2761488"/>
            <a:ext cx="731520" cy="256032"/>
          </a:xfrm>
          <a:prstGeom prst="rightArrow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400 min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32320" y="2724912"/>
            <a:ext cx="146304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0" y="2724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Breach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34840" y="3538728"/>
            <a:ext cx="731520" cy="256032"/>
          </a:xfrm>
          <a:prstGeom prst="rightArrow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5.0%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32320" y="3502152"/>
            <a:ext cx="146304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0" y="3502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-1.5pp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2608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731520" cy="256032"/>
          </a:xfrm>
          <a:prstGeom prst="rightArrow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32320" y="4279392"/>
            <a:ext cx="1463040" cy="3200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32320" y="4279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 — 16 Professional Deliverables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BA project lifecycle documentation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Requirements Document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100584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50592" y="10058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62072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(12 rules)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62072" y="1554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26864" y="10058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100584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10058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38344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 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38344" y="1554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03136" y="10058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03136" y="100584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03136" y="10058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14616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 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4616" y="1554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01168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01168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0116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2103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25603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50592" y="201168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450592" y="201168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50592" y="20116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62072" y="2103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Dataset (5K records)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62072" y="25603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26864" y="201168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26864" y="201168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26864" y="20116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38344" y="2103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Report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38344" y="25603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03136" y="201168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03136" y="201168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03136" y="20116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14616" y="2103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Report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14616" y="25603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01752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74320" y="301752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30175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Wireframe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" y="3566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450592" y="301752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450592" y="301752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450592" y="30175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862072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(3 pages)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862072" y="3566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26864" y="301752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626864" y="301752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626864" y="30175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038344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Checklist (25 test cases)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38344" y="3566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803136" y="301752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803136" y="301752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03136" y="30175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214616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Test Cases Document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214616" y="3566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7432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74320" y="402336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74320" y="40233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85800" y="4114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Report (8 findings)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5800" y="4572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450592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450592" y="402336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450592" y="40233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862072" y="4114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Report (6 recs)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862072" y="4572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626864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626864" y="4023360"/>
            <a:ext cx="3200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626864" y="40233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038344" y="4114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038344" y="4572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803136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803136" y="4023360"/>
            <a:ext cx="320040" cy="8229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803136" y="40233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214616" y="4114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Deck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214616" y="4572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demonstrates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02920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0789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credit decisions, poor operational 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approves 56.3% of applicants and maintains a 4.3% default rate — both within industry benchmarks. The problem is not the decisions being made but how slowly and manually they are being made.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50292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0116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rate is a policy design metric, not an operational 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cannot improve STP by working faster. It can only improve it by refining the exception triggers in the underwriting rules. R-01 and R-02 address this directly with data-driven rule changes.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502920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017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090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enables the recommendations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real-time visibility, the 6 recommendations could not be measured or managed. The dashboard is not just a reporting tool — it is the foundation of the improvement programme.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502920" cy="8686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0233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40965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BA lifecycle traceability from problem to recommendation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389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traces back to a finding → KPI → user story → business rule → BRD objective. This end-to-end traceability is what makes the project credible and defensible.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131821"/>
            <a:ext cx="9144000" cy="1943100"/>
          </a:xfrm>
          <a:prstGeom prst="rect">
            <a:avLst/>
          </a:prstGeom>
          <a:solidFill>
            <a:srgbClr val="162F4A"/>
          </a:solidFill>
          <a:ln w="12700">
            <a:solidFill>
              <a:srgbClr val="16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" cy="18288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Operations Analytics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A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Business Analytics project mirroring real banking industry practice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28016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694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65960" y="3337560"/>
            <a:ext cx="128016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65960" y="3694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3337560"/>
            <a:ext cx="128016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3694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3337560"/>
            <a:ext cx="128016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0600" y="3694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128016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3694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35240" y="3337560"/>
            <a:ext cx="128016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35240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35240" y="3694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Cases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B8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Lamsal |  MS Business Analytics  |  amitlamsal72@gmail.com  |  </a:t>
            </a:r>
            <a:r>
              <a:rPr lang="en-US" sz="1200" u="sng" dirty="0" err="1">
                <a:hlinkClick r:id="rId3"/>
              </a:rPr>
              <a:t>amitlamsal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1909</Words>
  <Application>Microsoft Office PowerPoint</Application>
  <PresentationFormat>On-screen Show (16:9)</PresentationFormat>
  <Paragraphs>469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Operations Analytics Dashboard</dc:title>
  <dc:subject>PptxGenJS Presentation</dc:subject>
  <dc:creator>MS Business Analytics Graduate</dc:creator>
  <cp:lastModifiedBy>Amit Lamsal</cp:lastModifiedBy>
  <cp:revision>2</cp:revision>
  <dcterms:created xsi:type="dcterms:W3CDTF">2026-05-27T01:14:42Z</dcterms:created>
  <dcterms:modified xsi:type="dcterms:W3CDTF">2026-05-27T01:19:49Z</dcterms:modified>
</cp:coreProperties>
</file>